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E2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estQuan Stud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28600"/>
            <a:ext cx="2560320" cy="8534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91440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WestQuant Representation Scheduler (Project 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4173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7FB3FF"/>
                </a:solidFill>
              </a:defRPr>
            </a:pPr>
            <a:r>
              <a:t>Slide 1 — Project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874519"/>
            <a:ext cx="11430000" cy="25400"/>
          </a:xfrm>
          <a:prstGeom prst="rect">
            <a:avLst/>
          </a:prstGeom>
          <a:solidFill>
            <a:srgbClr val="1A4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11247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400" b="0">
                <a:solidFill>
                  <a:srgbClr val="C8D8F0"/>
                </a:solidFill>
              </a:rPr>
              <a:t/>
            </a:r>
            <a:r>
              <a:rPr sz="1400" b="1">
                <a:solidFill>
                  <a:srgbClr val="FFFFFF"/>
                </a:solidFill>
              </a:rPr>
              <a:t>Problem:</a:t>
            </a:r>
            <a:r>
              <a:rPr sz="1400" b="0">
                <a:solidFill>
                  <a:srgbClr val="C8D8F0"/>
                </a:solidFill>
              </a:rPr>
              <a:t> A fixed logical Hamiltonian does not determine a unique useful quantum representation. The physical embedding/layout matters.</a:t>
            </a:r>
          </a:p>
          <a:p>
            <a:pPr>
              <a:spcAft>
                <a:spcPts val="1400"/>
              </a:spcAft>
            </a:pPr>
            <a:r>
              <a:rPr sz="1400" b="0">
                <a:solidFill>
                  <a:srgbClr val="C8D8F0"/>
                </a:solidFill>
              </a:rPr>
              <a:t/>
            </a:r>
            <a:r>
              <a:rPr sz="1400" b="1">
                <a:solidFill>
                  <a:srgbClr val="FFFFFF"/>
                </a:solidFill>
              </a:rPr>
              <a:t>Approach:</a:t>
            </a:r>
            <a:r>
              <a:rPr sz="1400" b="0">
                <a:solidFill>
                  <a:srgbClr val="C8D8F0"/>
                </a:solidFill>
              </a:rPr>
              <a:t> Automated search over QoolQit embeddings (InteractionEmbedder, SpringLayoutEmbedder, Blade) using successive halving across 5 stages: cheap metrics, logical fidelity, compilation, emulation, robustness.</a:t>
            </a:r>
          </a:p>
          <a:p>
            <a:pPr>
              <a:spcAft>
                <a:spcPts val="1400"/>
              </a:spcAft>
            </a:pPr>
            <a:r>
              <a:rPr sz="1400" b="0">
                <a:solidFill>
                  <a:srgbClr val="C8D8F0"/>
                </a:solidFill>
              </a:rPr>
              <a:t/>
            </a:r>
            <a:r>
              <a:rPr sz="1400" b="1">
                <a:solidFill>
                  <a:srgbClr val="FFFFFF"/>
                </a:solidFill>
              </a:rPr>
              <a:t>Results:</a:t>
            </a:r>
            <a:r>
              <a:rPr sz="1400" b="0">
                <a:solidFill>
                  <a:srgbClr val="C8D8F0"/>
                </a:solidFill>
              </a:rPr>
              <a:t> Flagship experiment (6 problems, 9 embeddings, 3 replicates): embedding main effect η²(R) = 19.0% (median). For 5/6 problems, the preselected baseline fails terminal ground-state preservation; search finds feasible alternatives for 6/6.</a:t>
            </a:r>
          </a:p>
          <a:p>
            <a:pPr>
              <a:spcAft>
                <a:spcPts val="1400"/>
              </a:spcAft>
            </a:pPr>
            <a:r>
              <a:rPr sz="1400" b="0">
                <a:solidFill>
                  <a:srgbClr val="C8D8F0"/>
                </a:solidFill>
              </a:rPr>
              <a:t/>
            </a:r>
            <a:r>
              <a:rPr sz="1400" b="1">
                <a:solidFill>
                  <a:srgbClr val="FFFFFF"/>
                </a:solidFill>
              </a:rPr>
              <a:t>Importance:</a:t>
            </a:r>
            <a:r>
              <a:rPr sz="1400" b="0">
                <a:solidFill>
                  <a:srgbClr val="C8D8F0"/>
                </a:solidFill>
              </a:rPr>
              <a:t> Treating the embedding as an optimization variable (not a fixed choice) materially improves quantum solution quality. Open-source, deterministic, no proprietary infrastructure required.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3093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A6A9A"/>
                </a:solidFill>
              </a:defRPr>
            </a:pPr>
            <a:r>
              <a:t>WestQuant Representation Stack — QoolQit 1.4.0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630936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4A6A9A"/>
                </a:solidFill>
              </a:defRPr>
            </a:pPr>
            <a:r>
              <a:t>WestQuant Open Artifact #001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E2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estQuan Stud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28600"/>
            <a:ext cx="2560320" cy="8534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91440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WestQuant Representation Scheduler (Project 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4173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7FB3FF"/>
                </a:solidFill>
              </a:defRPr>
            </a:pPr>
            <a:r>
              <a:t>Slide 2 — QoolQit Experience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874519"/>
            <a:ext cx="11430000" cy="25400"/>
          </a:xfrm>
          <a:prstGeom prst="rect">
            <a:avLst/>
          </a:prstGeom>
          <a:solidFill>
            <a:srgbClr val="1A4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11247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400" b="0">
                <a:solidFill>
                  <a:srgbClr val="C8D8F0"/>
                </a:solidFill>
              </a:rPr>
              <a:t/>
            </a:r>
            <a:r>
              <a:rPr sz="1400" b="1">
                <a:solidFill>
                  <a:srgbClr val="FFFFFF"/>
                </a:solidFill>
              </a:rPr>
              <a:t>Positive aspects:</a:t>
            </a:r>
            <a:r>
              <a:rPr sz="1400" b="0">
                <a:solidFill>
                  <a:srgbClr val="C8D8F0"/>
                </a:solidFill>
              </a:rPr>
              <a:t> QoolQit's Register, Drive, and QuantumProgram abstractions are clean and composable. The embedding API (InteractionEmbedder, Blade) is well-designed. compile_to(device) handles device constraints automatically. LocalEmulator with QutipBackendV2 works out of the box.</a:t>
            </a:r>
          </a:p>
          <a:p>
            <a:pPr>
              <a:spcAft>
                <a:spcPts val="1400"/>
              </a:spcAft>
            </a:pPr>
            <a:r>
              <a:rPr sz="1400" b="0">
                <a:solidFill>
                  <a:srgbClr val="C8D8F0"/>
                </a:solidFill>
              </a:rPr>
              <a:t/>
            </a:r>
            <a:r>
              <a:rPr sz="1400" b="1">
                <a:solidFill>
                  <a:srgbClr val="FFFFFF"/>
                </a:solidFill>
              </a:rPr>
              <a:t>Challenges:</a:t>
            </a:r>
            <a:r>
              <a:rPr sz="1400" b="0">
                <a:solidFill>
                  <a:srgbClr val="C8D8F0"/>
                </a:solidFill>
              </a:rPr>
              <a:t> DMM drives require a DMM-capable device (AnalogDeviceWithDMM, not AnalogDevice). The max_energy compilation profile is needed for automatic rescaling; the default profile requires pre-scaled drives. Bitstring results come as Counters of strings (not arrays), requiring careful bit-ordering handling.</a:t>
            </a:r>
          </a:p>
          <a:p>
            <a:pPr>
              <a:spcAft>
                <a:spcPts val="1400"/>
              </a:spcAft>
            </a:pPr>
            <a:r>
              <a:rPr sz="1400" b="0">
                <a:solidFill>
                  <a:srgbClr val="C8D8F0"/>
                </a:solidFill>
              </a:rPr>
              <a:t/>
            </a:r>
            <a:r>
              <a:rPr sz="1400" b="1">
                <a:solidFill>
                  <a:srgbClr val="FFFFFF"/>
                </a:solidFill>
              </a:rPr>
              <a:t>Workflow:</a:t>
            </a:r>
            <a:r>
              <a:rPr sz="1400" b="0">
                <a:solidFill>
                  <a:srgbClr val="C8D8F0"/>
                </a:solidFill>
              </a:rPr>
              <a:t> The successive-halving approach (cheap metrics first, expensive emulation last) is essential for scaling the search. QoolQit's interaction_matrix() and 1/r^6 convention made interaction-fidelity metrics straightforward.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3093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A6A9A"/>
                </a:solidFill>
              </a:defRPr>
            </a:pPr>
            <a:r>
              <a:t>WestQuant Representation Stack — QoolQit 1.4.0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630936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4A6A9A"/>
                </a:solidFill>
              </a:defRPr>
            </a:pPr>
            <a:r>
              <a:t>WestQuant Open Artifact #001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